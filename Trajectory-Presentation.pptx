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463040" cy="32004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AI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Trajectory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autonomous student opportunity intelligence and action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extracts grounded evidence.   Deterministic code decides.   n8n orchestrates.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329184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1F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2918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329184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1F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2918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329184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1F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2918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329184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1F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32918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329184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1F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32918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Judges Round   |   Internships  —  Jobs  —  Hackathons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&amp;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We Solve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65760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(MANUAL CHAOS)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34440"/>
            <a:ext cx="3657600" cy="365760"/>
          </a:xfrm>
          <a:prstGeom prst="roundRect">
            <a:avLst/>
          </a:prstGeom>
          <a:solidFill>
            <a:srgbClr val="FFF1EB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TRAJECTORY (AUTONOMOUS)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10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Scattered Sources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boards, hackathon portals, email alerts, and web pages—all checked manually every day.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10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One Profile, One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0574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Feeds, forwarded emails, and browser captures flow into one unified evaluation loop.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7249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Manual Eligibility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9718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listing re-read for CGPA, branch, graduation year, region, and buried fine print.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65176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7249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Evidence-Backed Decisions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9718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extracts literal quoted facts; deterministic code checks eligibility, scores, and confidence.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639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Risky &amp; Unverified Listings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8862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Fee-charging traps and suspicious postings look identical to authentic career opportunities.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639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Safe Next 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8862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Track, notify, calendar, or ask. Never auto-submits applications or impersonates students.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Loop: Discover to Follow-Up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207008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150876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240280"/>
            <a:ext cx="1060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feeds, forwarded email, browser capture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932688" cy="2011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7180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WF 08 | 01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29968" y="1371600"/>
            <a:ext cx="1207008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50876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75688" y="196596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240280"/>
            <a:ext cx="1060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fetch; AI extracts quoted facts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67128" y="2971800"/>
            <a:ext cx="932688" cy="2011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67128" y="297180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WF 02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28416" y="1371600"/>
            <a:ext cx="1207008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50876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4136" y="196596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2240280"/>
            <a:ext cx="1060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 check, 0–100 score, confidence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65576" y="2971800"/>
            <a:ext cx="932688" cy="2011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297180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WF 03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26864" y="1371600"/>
            <a:ext cx="1207008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47488" y="150876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72584" y="196596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0016" y="2240280"/>
            <a:ext cx="1060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ACT, ASK, or IGNORE by deterministic policy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64024" y="2971800"/>
            <a:ext cx="932688" cy="2011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297180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WF 03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25312" y="1371600"/>
            <a:ext cx="1207008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45936" y="150876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71032" y="196596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98464" y="2240280"/>
            <a:ext cx="1060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Track, notify, calendar, or get approval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62472" y="2971800"/>
            <a:ext cx="932688" cy="2011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2472" y="297180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WF 04 | 05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23760" y="1371600"/>
            <a:ext cx="1207008" cy="19202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44384" y="150876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44384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69480" y="196596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up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96912" y="2240280"/>
            <a:ext cx="1060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reminders, failure alerts, calendar updates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60920" y="2971800"/>
            <a:ext cx="932688" cy="2011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297180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WF 06 | 07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31520" y="347472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 Feedback Loop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68680" y="3822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profile edit or a newly answered question instantly re-evaluates affected opportunities. Stale runs are fenced, and AI evidence is cached.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347472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Autonomy Boundary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3822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Trajectory NEVER applies to an employer on a student’s behalf, NEVER invents a deadline, and NEVER shares a student’s profile externally.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TOPOLOGY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783080" cy="2560320"/>
          </a:xfrm>
          <a:prstGeom prst="roundRect">
            <a:avLst>
              <a:gd name="adj" fmla="val 4103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600200" cy="228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TOOLS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Chrome Extension (MV3)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One-click Bookmarklet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Pasted text / Raw URL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Resume PDF upload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Forwarded email (IMAP)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Public API feeds: Lever, Greenhouse, Ashby, Devpost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70048" y="1325880"/>
            <a:ext cx="1783080" cy="2560320"/>
          </a:xfrm>
          <a:prstGeom prst="roundRect">
            <a:avLst>
              <a:gd name="adj" fmla="val 4103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1417320"/>
            <a:ext cx="1600200" cy="228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141732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WORKSPACE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61488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WEB APP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61488" y="205740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React 19 &amp; TypeScript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4 &amp; Radix UI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Route handlers &amp; API routes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SSR session auth guards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Approvals &amp; Sorting Board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7-stage Kanban tracker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08576" y="1325880"/>
            <a:ext cx="1783080" cy="2560320"/>
          </a:xfrm>
          <a:prstGeom prst="roundRect">
            <a:avLst>
              <a:gd name="adj" fmla="val 4103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1417320"/>
            <a:ext cx="1600200" cy="228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41732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ENGINE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00016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 ORCHESTRATOR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0016" y="205740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Self-hosted in Docker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15 modular workflows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Webhook &amp; Cron triggers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Private Wait nodes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Durable queue polling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Zero-loss recovery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47104" y="1325880"/>
            <a:ext cx="1783080" cy="2560320"/>
          </a:xfrm>
          <a:prstGeom prst="roundRect">
            <a:avLst>
              <a:gd name="adj" fmla="val 4103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38544" y="1417320"/>
            <a:ext cx="1600200" cy="228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141732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DATA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38544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&amp; DATA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38544" y="205740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PostgreSQL with RLS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Private worker schema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PL/pgSQL security definers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Realtime subscriptions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Bucket storage (resumes)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70 audited migrations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151C2C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06908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ENGINES &amp; DEPLOYMENT:  Groq gpt-oss-120b (primary) · Gemini 3.5 Flash Lite (fallback) · Google Calendar API (OAuth2) · Cloudflare Tunnel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43434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Next.js host · Pinned Docker n8n container · Cloud Supabase PostgreSQL · Webhook-only gateway protects all credentials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MODERN TOOLCHAIN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(App Router)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19, TypeScript 5, Tailwind CSS 4, Radix UI primitives, Zod schema validation, Lucide icons.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35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SECURITY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0" y="16733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with SSR cookies, Row-Level Security, PL/pgSQL RPCs, Realtime channels, 70 migrations, 21 SQL tests.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325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435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 ENGINE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80760" y="16733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n8n (Docker)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workflows, 168 nodes. Webhook listeners, Cron schedules, Wait nodes, and pure JavaScript Code nodes.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990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INTELLIGENCE LAYER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8680" y="3227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+ Gemini 3.5 Flash Lite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gpt-oss-120b primary with Gemini fallback. LLM chain with forced JSON schemas and zero-hallucination quote gates.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2880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90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&amp; PROTOCOLS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0" y="3227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 &amp; Mail Protocols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Lever, Greenhouse, Ashby, Devpost, JSearch India. Google Calendar OAuth2, Gmail SMTP outgoing, and IMAP incoming.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2880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990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&amp; VERIFICATION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80760" y="3227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Extensions &amp; Test Harness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Extension (MV3), Bookmarklet, unpdf in-process parser, 246 Node contract tests, Cloudflare secure tunnel.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DEFENSE IN DEPTH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and Data Isolation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Hardening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4356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Cloudflare tunnel exposes webhooks only. Header authentication enforced; root and settings paths return 404.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05740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Verification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owner always comes from verified Supabase session cookies, NEVER trusted from request bodies.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69748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Isolation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715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Security (RLS) on all public tables; owner-scoped security definer RPCs; privileged worker schema stays private.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33756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Fetch Safety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3558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SSRF-fenced reader: DNS resolved and pinned; private and loopback IP ranges blocked; robots.txt strictly honored.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3886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977640"/>
            <a:ext cx="365760" cy="3657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2588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Safety Boundaries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9959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Separate, revocable consents for email and calendar; idempotent queue execution ensures actions are never duplicated.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ZERO-HALLUCINATION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Proposes, Code Decides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533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 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Postings, emails, pages, resume PDF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14600" y="14173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A1F"/>
                </a:solidFill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70048" y="128016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13533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Proposes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15768" y="1600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/ Gemini extracts facts with literal quotes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53128" y="14173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A1F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08576" y="128016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3533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Gate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54296" y="1600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verifies quotes match source text 100%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91656" y="14173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A1F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47104" y="128016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3533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Decides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92824" y="1600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rules score &amp; route ACT / ASK / SKIP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2148840"/>
            <a:ext cx="37033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2677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WHAT THE AI MODEL MAY 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60604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Extract title, organization, deadline, and eligibility.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Provide verbatim quotes for every extracted fact.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Propose matching evidence quoting both listing and profile.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Parse messy raw markdown and text.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Failover seamlessly from Groq to Gemini Flash Lite.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148840"/>
            <a:ext cx="37033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2677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WHAT THE AI MODEL MAY NEVER 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60604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Return policy decision fields or declare eligibility.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Call external tools, write to DB, or execute side-effects.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See student credentials, API keys, or private nonces.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Invent a deadline: missing facts stay NULL.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Bypass the quota reservation or budget ceilings.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Extraction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Source Read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60320" y="1325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static pages only; DNS pinned, redirects checked, robots.txt honored.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682496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282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728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&amp; Dedupe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0" y="17282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text hashed before AI call; cached extractions reused per user.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084832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305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21305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Chunking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21305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Listings over 20k characters split by headings; merged without silent truncation.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487168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328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2532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Extraction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2532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Groq/Gemini JSON-schema output; strictly bounded to 5 items max; no tools.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2889504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93522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2935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Evidence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29352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fact verified with a literal quote; dates, timezones, and ranges checked.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3291840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3375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" y="3337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 Requirements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0" y="3337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criteria separated from skills, preferences, and perks.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694176"/>
            <a:ext cx="4572000" cy="347472"/>
          </a:xfrm>
          <a:prstGeom prst="roundRect">
            <a:avLst>
              <a:gd name="adj" fmla="val 15789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7398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" y="37398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with Provenance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0" y="37398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as deduplicated catalog item. Missing fields stay NULL, never guessed.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0" y="1280160"/>
            <a:ext cx="2926080" cy="2834640"/>
          </a:xfrm>
          <a:prstGeom prst="roundRect">
            <a:avLst>
              <a:gd name="adj" fmla="val 2581"/>
            </a:avLst>
          </a:prstGeom>
          <a:solidFill>
            <a:srgbClr val="151C2C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REQUIREMENT CLASSES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3560" y="17830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mandatory_eligibility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19659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constraints (degree, branch, CGPA, graduation year).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3560" y="22860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required_skill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24688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technical competencies essential for the role.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23560" y="27889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preferred_skill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23560" y="2971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skills; NEVER cause a hard eligibility failure.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23560" y="32918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other_requirement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23560" y="34747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Benefits, visa rules, or non-technical requirements.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23560" y="37947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Rule: Unstated criteria are marked NOT_STATED, never failed.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&amp; POLICY RULES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Decision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99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39903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deadline already expired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949440" y="1380744"/>
            <a:ext cx="1280160" cy="274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3807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764792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3794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83794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mandatory eligibility requirement fails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0" y="1819656"/>
            <a:ext cx="1280160" cy="274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8196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203704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768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27685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 status is UNKNOWN (missing facts)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2258568"/>
            <a:ext cx="128016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2585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642616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7157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71576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Eligible, but match score is below 40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2697480"/>
            <a:ext cx="1280160" cy="274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697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081528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1546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315468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&amp; confidence meet active autonomy mode threshold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3136392"/>
            <a:ext cx="1280160" cy="274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136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520440"/>
            <a:ext cx="7680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45920" y="35935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Otherwise (borderline fit or confidence)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9440" y="3575304"/>
            <a:ext cx="1280160" cy="274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5753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06908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13308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CONFIDENCE FORMULA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68680" y="43434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= min( model_confidence,  0.30 × completeness + 0.30 × verified_evidence + 0.25 × clarity + 0.15 × model_confidence 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HUMAN-IN-THE-LOOP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Autonomy Modes and Outcomes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Cautious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80+  ·  Confidence 0.85+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barrier. Ideal for final-round candidates seeking precise matches.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151C2C"/>
          </a:solidFill>
          <a:ln w="25400">
            <a:solidFill>
              <a:srgbClr val="FF5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(Default)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70+  ·  Confidence 0.75+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operating mode. Balanced precision and discovery throughput.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0" y="13258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Autopilot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60+  ·  Confidence 0.65+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1965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Broadest net. Automatically handles tracking for all viable roles.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51C2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Eligible &amp; Confident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3520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Queues permitted low-risk actions: tracker task, notification, calendar event. Never submits application.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37560" y="28346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51C2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Facts or Borderline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the Approval Center. Asks student once; explicit approval immediately resumes execution.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0" y="28346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51C2C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80760" y="3246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Ineligible, Expired, or Low Fit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3520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Silently archived. Reasons (expired deadline, failed requirement, low score) transparently visible.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 TOPOLOGY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n8n Workflows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70048" y="12344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280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70048" y="16002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PIPELINE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08576" y="12344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280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16002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CONNECTIVITY CHECKS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47104" y="123444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1280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7104" y="16002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NODES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31520" y="2011680"/>
            <a:ext cx="768096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0574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Ingest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40280" y="20574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 door: webhook &amp; IMAP receiver, session validation, atomic raw store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32320" y="20574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/ IMAP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1520" y="2331720"/>
            <a:ext cx="7680960" cy="283464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377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Understand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0280" y="23774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DNS-pinned fetch, text hashing, Groq/Gemini fact &amp; quote extraction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32320" y="2377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/ Queue poll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1520" y="2651760"/>
            <a:ext cx="768096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697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Evaluate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40280" y="26974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 in code, AI quote matching, deterministic scoring &amp; routing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0" y="26974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/ Queue poll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971800"/>
            <a:ext cx="7680960" cy="283464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017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Act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40280" y="30175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Permitted low-risk execution: tracker, calendar reconciliation, SMTP email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0" y="3017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/ 1-min recovery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1520" y="3291840"/>
            <a:ext cx="768096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3375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Ask &amp; Approve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240280" y="333756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Wait node; resumes only upon student approval with private nonce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32320" y="33375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node (48h)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1520" y="3611880"/>
            <a:ext cx="7680960" cy="283464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657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Autopilot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240280" y="36576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cron scanning at 09:00 IST; user heartbeats and daily reminders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32320" y="36576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(Hourly)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31520" y="3931920"/>
            <a:ext cx="7680960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3977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Discovery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240280" y="39776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Adapter-based polling: Lever, Greenhouse, Ashby, Devpost, JSearch India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2320" y="39776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(15 min)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31520" y="4251960"/>
            <a:ext cx="7680960" cy="283464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297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Error Handler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240280" y="42976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sanitizer redacts secrets; logs failure in owner activity ledger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2320" y="4297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Trigger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FRONT DOOR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01: Ingest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Accepts signed-in website/extension submissions &amp; forwarded emails, saves atomically, and hands off to 02 Understand.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794760" cy="2834640"/>
          </a:xfrm>
          <a:prstGeom prst="roundRect">
            <a:avLst>
              <a:gd name="adj" fmla="val 2581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A: WEBHOOK INTAKE (Web &amp; Extension)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3520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Webhook POST received from web app or extension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Payload validated against strict Zod intake contract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Session verified directly with Supabase Auth (owner extracted)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Atomic raw item save + audit event logged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Confirmed HTTP 201 response returned to client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Immediate trigger handoff to 02 Understand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7720" y="1600200"/>
            <a:ext cx="3794760" cy="2834640"/>
          </a:xfrm>
          <a:prstGeom prst="roundRect">
            <a:avLst>
              <a:gd name="adj" fmla="val 2581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737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B: IMAP INTAKE (Forwarded Email Alerts)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3520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IMAP trigger polls personal agent mailbox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Sender alias token validated before any AI parsing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Email alert parsed into discrete opportunity items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Owner identity resolved via email_alias_token in DB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Discovered raw text stored with attributed provenance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Enqueued for evaluation in 02 Understand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FACT EXTRACTION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02: Understand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raw submissions into grounded structured facts. No eligibility checks, scoring, or actions occur here.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794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Claim Submission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queued item with atomic lease token to prevent duplicate parallel processing.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17720" y="1600200"/>
            <a:ext cx="3794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916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SSRF-Fenced Read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9476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URLs fetched with DNS pinning; redirects checked; robots.txt honoured.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3794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Hash &amp; Cache Lookup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9077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hashed; if already parsed by any user, cached facts are reused with 0 AI cost.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2560320"/>
            <a:ext cx="3794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AI Budget Guard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9077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daily AI budget reserved before model execution; prevents runaway spend.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3794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Schema Fact Extraction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38679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extracts title, organization, deadline, and eligibility with literal quotes.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3520440"/>
            <a:ext cx="3794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6118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Grounded Verification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8679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gate verifies every quoted fact matches source markdown byte-for-byte.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DECISION CONTRACT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03: Evaluate and Decide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ELIGIBILITY IN CODE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checks student profile (degree, branch, CGPA, graduation year) against mandatory requirements.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any mandatory criterion fails → IGNORE.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any criterion is unknown → ASK.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DOUBLE-SIDED EVIDENCE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proposes semantic match evidence. Code validates quotes exist on BOTH sides: verbatim quote from job listing AND verbatim quote from student profile.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hallucinated match claims.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1325880"/>
            <a:ext cx="2468880" cy="3108960"/>
          </a:xfrm>
          <a:prstGeom prst="roundRect">
            <a:avLst>
              <a:gd name="adj" fmla="val 2963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ROUTING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18745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score (0–100) and mathematical confidence computed.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ACT: Triggers Workflow 04 (Act)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ASK: Triggers Workflow 05 (Ask &amp; Approve)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IGNORE: Archived with explicit failure reasons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PERMITTED LOW-RISK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04: 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Tracker Integration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tracked record in public.applications with stage set to "To Apply" and sets optimistic UI updates.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17720" y="132588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356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Calendar Event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Reconciles event ID before creation. If already on calendar, updates time; never creates duplicates.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072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.ics Download Link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users without connected Google Calendar, generates signed .ics links for native iCal/Outlook import.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269748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8072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Email Notification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Dispatches clean notification via SMTP from the agent mailbox. No blind retries on uncertain socket states.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680960" cy="457200"/>
          </a:xfrm>
          <a:prstGeom prst="roundRect">
            <a:avLst/>
          </a:prstGeom>
          <a:solidFill>
            <a:srgbClr val="FFF1EB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879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GUARANTEE: Workflow 04 NEVER auto-submits an application or contacts an employer.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 WAIT FENCE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05: Ask and Approve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621792"/>
          </a:xfrm>
          <a:prstGeom prst="roundRect">
            <a:avLst>
              <a:gd name="adj" fmla="val 11765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1435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n8n Wait Node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an opportunity requires confirmation, the workflow execution enters a cryptographic n8n Wait node.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621792"/>
          </a:xfrm>
          <a:prstGeom prst="roundRect">
            <a:avLst>
              <a:gd name="adj" fmla="val 11765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1671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Resume Nonce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2148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student reviews in the authenticated Approval Center. Resuming requires a server-side verified one-time nonce.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7680960" cy="621792"/>
          </a:xfrm>
          <a:prstGeom prst="roundRect">
            <a:avLst>
              <a:gd name="adj" fmla="val 11765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26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986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Expiration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2880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authority strictly expires after 48 hours or when the job deadline passes, whichever is first.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7680960" cy="621792"/>
          </a:xfrm>
          <a:prstGeom prst="roundRect">
            <a:avLst>
              <a:gd name="adj" fmla="val 11765"/>
            </a:avLst>
          </a:prstGeom>
          <a:solidFill>
            <a:srgbClr val="151C2C"/>
          </a:solidFill>
          <a:ln w="1905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57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6301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 Invalidation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3611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profile or opportunity changes while waiting, the execution is canceled as stale and cannot authorize.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RELIABILITY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06 &amp; 07: Autopilot and Error Handling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AUTOPILOT (DAILY RUNNER)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Runs every hour; performs daily scans at 09:00 IST.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Recovers missed days if the machine was offline.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Records a cryptographic Agent Heartbeat in the user activity log.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Queues daily reminder digests for upcoming deadlines.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Idempotent keys ensure reminders are never sent twice.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ERROR HANDLER (SELF-HEALING)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8745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Global Error Trigger catches any failing workflow node.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Shared Sanitizer scrubs API keys, JWTs, and passwords from errors.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Maps failures to their specific resource owner only.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Logs visible diagnostics in student activity log—never silent failure.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Unattributed system errors remain private from public exposure.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MULTI-FEED POLLING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08: Discovery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every 15 minutes. Polls registered job feeds, normalizes listings in code, and triggers evaluation.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 Postings 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709928"/>
            <a:ext cx="1097280" cy="23774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7099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Corroborated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3484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employer endpoints. High trust, structured salary &amp; deadline fields.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167128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Greenhouse Boards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276856"/>
            <a:ext cx="1097280" cy="23774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2768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Corroborated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34840" y="2258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company career pages. Zero scraping required; clean JSON.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2734056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25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Ashby Job-Board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843784"/>
            <a:ext cx="1097280" cy="23774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8437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Corroborated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34840" y="2825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tech startups. Full markdown job specifications.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300984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392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Devpost Hackathons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410712"/>
            <a:ext cx="1097280" cy="23774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4107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34840" y="3392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hackathons, prize pools, submission dates, and developer themes.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0" y="3867912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59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JSearch India Feeds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977640"/>
            <a:ext cx="1097280" cy="23774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9776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34840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Aggregated tech internships across Indian metropolitan hubs.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Efficiency: Structured feeds use deterministic code normalization—ZERO LLM tokens spent.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SPECIALIZED PIPELINE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09 &amp; 10: Plan and Resume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WEEKLY PLAN (RETIRED PER PRD A-05)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Originally scheduled 30-minute blocks for application preparation.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Retired in favor of direct 7-stage Kanban execution in /applications.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Server API routes return 410 GONE.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Route /plan performs clean server redirect to /applications.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FF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RESUME PROCESSING (OFFLINE SAFE)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Deterministic in-process PDF parsing via unpdf library.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Zero external LLM dependency—immune to quotas or rate limits.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Extracts branch, CGPA, graduation year, skills, and projects.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Student reviews and confirms in onboarding Step 1.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PRIVACY GUARANTEE: Raw resume PDF is permanently purged upon confirmation.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INTEGRATION TEST PROOFS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00-Series: Connectivity Checks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Foundation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6184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&amp; Database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0" y="14356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authenticated webhook delivery, test user validation, and atomic write confirmation.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Gemini Connection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2585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Credentials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7520" y="20756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Google AI Studio / Gemini API credentials with a live LLM chain test.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Email Out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2898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SMTP Gateway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17520" y="27157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Gmail SMTP credential by sending a test message to the configured sender address.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37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Email 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35387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IMAP Mailbox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17520" y="33558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IMAP authentication, mailbox access, and plus-addressed forwarding routing.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51C2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77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Calendar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41788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Calendar API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17520" y="39959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an authenticated calendar write, confirms event creation, and verifies cleanup.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DEFENSIVE ARCHITECTURE GUARANTEES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Fail Safely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Idempotent Intake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76479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request IDs ensure duplicate or overlapping submissions create exactly one database row.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435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Fenced Work Claims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176479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tokens and monotonic revisions prevent stale background runs from overwriting current decisions.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1325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435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👁️  Visible Failures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80760" y="176479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 limits, rate limits, and interrupted states are shown transparently in the UI—never silent success.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90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✉️  Safe Retries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31927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blind retries after uncertain socket sends. Calendar events reconcile state before create.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2880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990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Redacted Secrets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331927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shared sanitizer strips API keys and credentials before logging errors to the student activity stream.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28803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990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Separate Consents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0760" y="331927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notifications and Google Calendar sync have independent opt-ins. Downloadable .ics links always work.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Verified, Honest, Next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151C2C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Contract Tests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70048" y="12344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151C2C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280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70048" y="16276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Test Files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08576" y="12344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151C2C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280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16276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Migrations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47104" y="12344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151C2C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1280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47104" y="162763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Web Routes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31520" y="20574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51C2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176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TODAY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2450592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Full autonomous loop: discover, extract, evaluate, ACT/ASK/SKIP.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Resume-first onboarding with verified fact extraction.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Approval Center with private n8n Wait resumption.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Earned Autonomy: 3 decisions propose active standing rules.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37560" y="20574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51C2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176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BOUNDARIES (HONEST)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2450592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Demo running on localhost, Docker n8n, cloud Supabase.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Free-tier AI rate limits enforce daily quota guards.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LinkedIn, Unstop, Internshala via alerts and capture only.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Never auto-submits applications to employers.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20574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51C2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176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ROADMAP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0760" y="2450592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Stable hosted multi-tenant cloud deployment.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Expanded official ATS integration (Workday, SmartRecruiters).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Direct college training and placement cell (TPO) integration.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Autonomous mock interview preparation tailored to matches.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411480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160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“AI reads. Code decides. n8n orchestrates. The student stays in control.”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443484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Questions? Happy to open any node or function.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0" y="42062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Trajectory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Trajectory — Autonomous Student Opportunity Intelligence</dc:title>
  <dc:subject>Project Presentation</dc:subject>
  <dc:creator>Trajectory Team</dc:creator>
  <cp:lastModifiedBy>Trajectory Team</cp:lastModifiedBy>
  <cp:revision>1</cp:revision>
  <dcterms:created xsi:type="dcterms:W3CDTF">2026-10-18T04:36:40Z</dcterms:created>
  <dcterms:modified xsi:type="dcterms:W3CDTF">2026-10-18T04:36:40Z</dcterms:modified>
</cp:coreProperties>
</file>